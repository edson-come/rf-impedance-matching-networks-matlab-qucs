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DDA4EF-744E-42A6-B18F-D6EDA8F3F6A7}" type="datetimeFigureOut">
              <a:rPr lang="pt-PT" smtClean="0"/>
              <a:t>30/03/2025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FD6F4-2F9A-40AA-B70F-F99264EF013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2301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FD6F4-2F9A-40AA-B70F-F99264EF0131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89940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3790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772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51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74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5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06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33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00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78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2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2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54" r:id="rId6"/>
    <p:sldLayoutId id="2147483750" r:id="rId7"/>
    <p:sldLayoutId id="2147483751" r:id="rId8"/>
    <p:sldLayoutId id="2147483752" r:id="rId9"/>
    <p:sldLayoutId id="2147483753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1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Smith Chart png images | PNGWing">
            <a:extLst>
              <a:ext uri="{FF2B5EF4-FFF2-40B4-BE49-F238E27FC236}">
                <a16:creationId xmlns:a16="http://schemas.microsoft.com/office/drawing/2014/main" id="{1949A9B7-1712-BD32-568B-3307027148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89" r="-1" b="21523"/>
          <a:stretch/>
        </p:blipFill>
        <p:spPr bwMode="auto">
          <a:xfrm>
            <a:off x="20" y="10"/>
            <a:ext cx="86684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2A4A59-5F26-55A7-67C4-88D1A35B1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pt-PT" sz="4400" dirty="0"/>
              <a:t>Trabalho de Adaptação de Impedâncias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34D51E-89A5-B956-6111-46B7272AE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r>
              <a:rPr lang="pt-PT" sz="2000" dirty="0" err="1"/>
              <a:t>Andre</a:t>
            </a:r>
            <a:r>
              <a:rPr lang="pt-PT" sz="2000" dirty="0"/>
              <a:t> Neto</a:t>
            </a:r>
          </a:p>
          <a:p>
            <a:r>
              <a:rPr lang="pt-PT" sz="2000" dirty="0"/>
              <a:t>Edson Come 115640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210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062222-A056-15AC-1AE6-3A16D95BE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Dados do Trabalho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EC0B13EC-C9B0-33C3-0F20-B292007CC8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PT" dirty="0"/>
                  <a:t>Carga à adaptar: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pt-PT" b="0" i="1" smtClean="0">
                        <a:latin typeface="Cambria Math" panose="02040503050406030204" pitchFamily="18" charset="0"/>
                      </a:rPr>
                      <m:t>=125.2+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50.1 (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𝛺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PT" dirty="0"/>
              </a:p>
              <a:p>
                <a:r>
                  <a:rPr lang="pt-PT" dirty="0"/>
                  <a:t>Frequência do projeto:	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=1048 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𝑀𝐻𝑧</m:t>
                    </m:r>
                  </m:oMath>
                </a14:m>
                <a:endParaRPr lang="pt-PT" b="0" dirty="0"/>
              </a:p>
              <a:p>
                <a:r>
                  <a:rPr lang="pt-PT" dirty="0"/>
                  <a:t>Sistema de adaptação a projetar:</a:t>
                </a:r>
              </a:p>
              <a:p>
                <a:pPr marL="0" indent="0">
                  <a:buNone/>
                </a:pPr>
                <a:r>
                  <a:rPr lang="pt-PT" dirty="0"/>
                  <a:t> 	</a:t>
                </a:r>
                <a:r>
                  <a:rPr lang="pt-PT" dirty="0" err="1"/>
                  <a:t>Stub</a:t>
                </a:r>
                <a:r>
                  <a:rPr lang="pt-PT" dirty="0"/>
                  <a:t> em Curto-Circuito.</a:t>
                </a:r>
              </a:p>
              <a:p>
                <a:pPr marL="0" indent="0">
                  <a:buNone/>
                </a:pPr>
                <a:r>
                  <a:rPr lang="pt-PT" dirty="0"/>
                  <a:t>	Capacidade C em paralelo com a linha.</a:t>
                </a:r>
              </a:p>
              <a:p>
                <a:pPr marL="0" indent="0">
                  <a:buNone/>
                </a:pPr>
                <a:r>
                  <a:rPr lang="pt-PT" dirty="0"/>
                  <a:t>	Transformador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pt-PT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dirty="0"/>
                  <a:t> num ponto de mínimo de tensão.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EC0B13EC-C9B0-33C3-0F20-B292007CC8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9" t="-99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602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2C2FC9-390B-8DE6-8FB7-320A869DF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 err="1"/>
              <a:t>Stub</a:t>
            </a:r>
            <a:r>
              <a:rPr lang="pt-PT" dirty="0"/>
              <a:t> em Curto-Circuito.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0CE626E6-ADFF-74E2-9FD8-E6D3CF4344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5569" y="2478024"/>
                <a:ext cx="4980432" cy="3694176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pt-PT" dirty="0"/>
                  <a:t>Representar a impedância de carga e de seguida representar o ponto diametralmente oposto – admitância da carga.</a:t>
                </a:r>
              </a:p>
              <a:p>
                <a:pPr algn="just"/>
                <a:r>
                  <a:rPr lang="pt-PT" dirty="0"/>
                  <a:t>Rodar a admitância de carga ate encontrar a circunferência de raio unitário da parte real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pt-PT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𝑗𝑏</m:t>
                    </m:r>
                  </m:oMath>
                </a14:m>
                <a:endParaRPr lang="pt-PT" b="0" dirty="0"/>
              </a:p>
              <a:p>
                <a:pPr algn="just"/>
                <a:r>
                  <a:rPr lang="pt-PT" dirty="0"/>
                  <a:t>Dimensionar o </a:t>
                </a:r>
                <a:r>
                  <a:rPr lang="pt-PT" dirty="0" err="1"/>
                  <a:t>stub</a:t>
                </a:r>
                <a:r>
                  <a:rPr lang="pt-PT" dirty="0"/>
                  <a:t> para </a:t>
                </a:r>
                <a:endParaRPr lang="pt-PT" b="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𝑠𝑡𝑢𝑏</m:t>
                        </m:r>
                      </m:sub>
                    </m:sSub>
                    <m:r>
                      <a:rPr lang="pt-PT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𝑗𝑏</m:t>
                    </m:r>
                  </m:oMath>
                </a14:m>
                <a:endParaRPr lang="pt-PT" dirty="0"/>
              </a:p>
              <a:p>
                <a:endParaRPr lang="pt-PT" dirty="0"/>
              </a:p>
            </p:txBody>
          </p:sp>
        </mc:Choice>
        <mc:Fallback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0CE626E6-ADFF-74E2-9FD8-E6D3CF4344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5569" y="2478024"/>
                <a:ext cx="4980432" cy="3694176"/>
              </a:xfrm>
              <a:blipFill>
                <a:blip r:embed="rId2"/>
                <a:stretch>
                  <a:fillRect l="-1346" t="-1155" r="-1591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8E888A0F-822F-D461-361C-C096A73F4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118" y="2103120"/>
            <a:ext cx="410331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02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2C1E6-8C99-66B6-7B85-A47D6E0B0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Capacidade C em paralelo na linha.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A33F588-109F-D8AC-83BF-F1B75CBD88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5569" y="2478024"/>
                <a:ext cx="4980431" cy="3694176"/>
              </a:xfrm>
            </p:spPr>
            <p:txBody>
              <a:bodyPr/>
              <a:lstStyle/>
              <a:p>
                <a:r>
                  <a:rPr lang="pt-PT" dirty="0"/>
                  <a:t>A partir do ponto de admitância de carga encontrado a partir da carta de Smith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0.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34 +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 0.14→</m:t>
                    </m:r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PT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i="1">
                            <a:latin typeface="Cambria Math" panose="02040503050406030204" pitchFamily="18" charset="0"/>
                          </a:rPr>
                          <m:t>3.4 +</m:t>
                        </m:r>
                        <m:r>
                          <a:rPr lang="pt-PT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pt-PT" i="1">
                            <a:latin typeface="Cambria Math" panose="02040503050406030204" pitchFamily="18" charset="0"/>
                          </a:rPr>
                          <m:t> 0.14</m:t>
                        </m:r>
                      </m:num>
                      <m:den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pt-PT" b="0" i="1" smtClean="0">
                        <a:latin typeface="Cambria Math" panose="02040503050406030204" pitchFamily="18" charset="0"/>
                      </a:rPr>
                      <m:t>=0.068+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0.0028 </m:t>
                    </m:r>
                  </m:oMath>
                </a14:m>
                <a:endParaRPr lang="pt-PT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→0.0028=2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𝑓𝐶</m:t>
                    </m:r>
                  </m:oMath>
                </a14:m>
                <a:endParaRPr lang="pt-PT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0.0028</m:t>
                          </m:r>
                        </m:num>
                        <m:den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∙1048×</m:t>
                          </m:r>
                          <m:sSup>
                            <m:sSupPr>
                              <m:ctrlP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=0.425</m:t>
                      </m:r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𝑝𝐹</m:t>
                      </m:r>
                    </m:oMath>
                  </m:oMathPara>
                </a14:m>
                <a:endParaRPr lang="pt-PT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pt-PT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pt-PT" b="0" dirty="0"/>
              </a:p>
              <a:p>
                <a:endParaRPr lang="pt-PT" dirty="0"/>
              </a:p>
            </p:txBody>
          </p:sp>
        </mc:Choice>
        <mc:Fallback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A33F588-109F-D8AC-83BF-F1B75CBD88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5569" y="2478024"/>
                <a:ext cx="4980431" cy="3694176"/>
              </a:xfrm>
              <a:blipFill>
                <a:blip r:embed="rId2"/>
                <a:stretch>
                  <a:fillRect l="-1591" t="-990" r="-1836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89634800-9FF4-CE67-E2D8-8C35B5B53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096" y="2077970"/>
            <a:ext cx="4212336" cy="446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709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7ABE4C1A-BDCD-DFC6-F7AB-65EBF643C1D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pt-PT" dirty="0"/>
                  <a:t>Transformador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pt-PT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dirty="0"/>
                  <a:t> num ponto de mínimo de tensão.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7ABE4C1A-BDCD-DFC6-F7AB-65EBF643C1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99" t="-6701" b="-24742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F289551-2AA2-75BA-5B7D-3520469917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5568" y="2478024"/>
                <a:ext cx="4873752" cy="3694176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pt-PT" sz="2400" dirty="0"/>
                  <a:t>Marcar a impedância normalizada na cart</a:t>
                </a:r>
                <a:r>
                  <a:rPr lang="pt-PT" dirty="0"/>
                  <a:t>a de Smith</a:t>
                </a:r>
                <a:r>
                  <a:rPr lang="pt-PT" sz="2400" dirty="0"/>
                  <a:t> </a:t>
                </a:r>
                <a:r>
                  <a:rPr lang="pt-PT" dirty="0"/>
                  <a:t>e d</a:t>
                </a:r>
                <a:r>
                  <a:rPr lang="pt-PT" sz="2400" dirty="0"/>
                  <a:t>eterminar a impedância no ponto de tensão máxima.</a:t>
                </a:r>
                <a:endParaRPr lang="pt-PT" dirty="0"/>
              </a:p>
              <a:p>
                <a:r>
                  <a:rPr lang="pt-PT" dirty="0"/>
                  <a:t>V</a:t>
                </a:r>
                <a:r>
                  <a:rPr lang="pt-PT" sz="2400" dirty="0"/>
                  <a:t>er a distância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pt-PT" sz="2400" dirty="0"/>
                  <a:t> até ao ponto de máximo tensão</a:t>
                </a:r>
              </a:p>
              <a:p>
                <a:pPr marL="0" indent="0">
                  <a:buNone/>
                </a:pPr>
                <a:r>
                  <a:rPr lang="pt-PT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PT" sz="2400" b="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PT" sz="2400" b="0" i="0" dirty="0" smtClean="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pt-PT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PT" sz="24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PT" sz="2400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PT" sz="2400" i="1" dirty="0" smtClean="0">
                        <a:latin typeface="Cambria Math" panose="02040503050406030204" pitchFamily="18" charset="0"/>
                      </a:rPr>
                      <m:t>5 −</m:t>
                    </m:r>
                    <m:r>
                      <a:rPr lang="pt-PT" sz="2400" b="0" i="1" dirty="0" smtClean="0">
                        <a:latin typeface="Cambria Math" panose="02040503050406030204" pitchFamily="18" charset="0"/>
                      </a:rPr>
                      <m:t>0.274</m:t>
                    </m:r>
                    <m:r>
                      <a:rPr lang="pt-PT" sz="2400" i="1" dirty="0" smtClean="0">
                        <a:latin typeface="Cambria Math" panose="02040503050406030204" pitchFamily="18" charset="0"/>
                      </a:rPr>
                      <m:t> = 0.2</m:t>
                    </m:r>
                    <m:r>
                      <a:rPr lang="pt-PT" sz="2400" b="0" i="1" dirty="0" smtClean="0">
                        <a:latin typeface="Cambria Math" panose="02040503050406030204" pitchFamily="18" charset="0"/>
                      </a:rPr>
                      <m:t>26</m:t>
                    </m:r>
                    <m:r>
                      <a:rPr lang="pt-PT" sz="2400" b="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PT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PT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𝑑𝑚𝑖𝑛</m:t>
                          </m:r>
                        </m:sub>
                      </m:sSub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=0.34×50=17 </m:t>
                      </m:r>
                      <m:r>
                        <a:rPr lang="pt-PT" i="1">
                          <a:latin typeface="Cambria Math" panose="02040503050406030204" pitchFamily="18" charset="0"/>
                        </a:rPr>
                        <m:t>𝛺</m:t>
                      </m:r>
                    </m:oMath>
                  </m:oMathPara>
                </a14:m>
                <a:endParaRPr lang="pt-PT" sz="2400" dirty="0"/>
              </a:p>
              <a:p>
                <a:pPr marL="0" indent="0">
                  <a:buNone/>
                </a:pPr>
                <a:r>
                  <a:rPr lang="pt-PT" dirty="0"/>
                  <a:t>Então,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𝑑𝑚𝑖𝑛</m:t>
                              </m:r>
                            </m:sub>
                          </m:s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rad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17∙50</m:t>
                          </m:r>
                        </m:e>
                      </m:rad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=29.15 </m:t>
                      </m:r>
                      <m:r>
                        <a:rPr lang="pt-PT" i="1">
                          <a:latin typeface="Cambria Math" panose="02040503050406030204" pitchFamily="18" charset="0"/>
                        </a:rPr>
                        <m:t>𝛺</m:t>
                      </m:r>
                    </m:oMath>
                  </m:oMathPara>
                </a14:m>
                <a:endParaRPr lang="pt-PT" sz="2400" dirty="0"/>
              </a:p>
              <a:p>
                <a:endParaRPr lang="pt-PT" dirty="0"/>
              </a:p>
            </p:txBody>
          </p:sp>
        </mc:Choice>
        <mc:Fallback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F289551-2AA2-75BA-5B7D-3520469917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5568" y="2478024"/>
                <a:ext cx="4873752" cy="3694176"/>
              </a:xfrm>
              <a:blipFill>
                <a:blip r:embed="rId3"/>
                <a:stretch>
                  <a:fillRect l="-1250" t="-990" r="-125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E85F72B1-1C0D-85BF-8E42-32F711480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2137731"/>
            <a:ext cx="4044696" cy="437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46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117DA-181F-D657-9E6F-31BBDE6F5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Dados de Entrada - MATLAB</a:t>
            </a: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09E2CEFA-9868-1075-6DF4-E9C841F968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1728" y="2109218"/>
            <a:ext cx="7660751" cy="2744761"/>
          </a:xfrm>
        </p:spPr>
      </p:pic>
    </p:spTree>
    <p:extLst>
      <p:ext uri="{BB962C8B-B14F-4D97-AF65-F5344CB8AC3E}">
        <p14:creationId xmlns:p14="http://schemas.microsoft.com/office/powerpoint/2010/main" val="140828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4961A-C9A9-3428-C048-4EF18AFAF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Stub</a:t>
            </a:r>
            <a:r>
              <a:rPr lang="pt-PT" dirty="0"/>
              <a:t> em Curto-Circuito - MATLAB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3E030C15-216C-21A5-6A73-33E7C8D41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498" y="2068462"/>
            <a:ext cx="4769628" cy="4273641"/>
          </a:xfrm>
          <a:prstGeom prst="rect">
            <a:avLst/>
          </a:prstGeom>
        </p:spPr>
      </p:pic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3B00BC6-8640-9AE0-2F75-82A57BFAB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96052" y="2969342"/>
            <a:ext cx="2768960" cy="2793296"/>
          </a:xfrm>
        </p:spPr>
        <p:txBody>
          <a:bodyPr/>
          <a:lstStyle/>
          <a:p>
            <a:endParaRPr lang="pt-PT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728F19F-6804-9609-0F71-1A386F6D5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162" y="2068462"/>
            <a:ext cx="4779534" cy="428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750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AF94E6-31BA-A97C-F6CC-FB9B20532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/>
              <a:t>Capacidade C em paralelo na linha - MATLAB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C7D6CB7-E2AD-943F-787C-39975FEBC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518" y="2056057"/>
            <a:ext cx="4746929" cy="4253303"/>
          </a:xfrm>
          <a:prstGeom prst="rect">
            <a:avLst/>
          </a:prstGeom>
        </p:spPr>
      </p:pic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DFFE1CC-E610-13F0-D9EE-111E60367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5110" y="5801032"/>
            <a:ext cx="1618586" cy="37116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pt-PT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8438B13-2417-B14D-0210-BB5474037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672" y="2056057"/>
            <a:ext cx="4746930" cy="425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328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0CAFC235-6EE5-D217-1DD0-7D17F7CD67B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pt-PT" dirty="0"/>
                  <a:t>Transformador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pt-PT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dirty="0"/>
                  <a:t> num ponto de mínimo de tensão - MATLAB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0CAFC235-6EE5-D217-1DD0-7D17F7CD6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99" t="-6701" b="-24742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m 8">
            <a:extLst>
              <a:ext uri="{FF2B5EF4-FFF2-40B4-BE49-F238E27FC236}">
                <a16:creationId xmlns:a16="http://schemas.microsoft.com/office/drawing/2014/main" id="{5AD79681-38CE-C94D-315C-E898F0629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136380"/>
            <a:ext cx="4657284" cy="4172980"/>
          </a:xfrm>
          <a:prstGeom prst="rect">
            <a:avLst/>
          </a:prstGeom>
        </p:spPr>
      </p:pic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F6103377-4FD0-AF49-7066-DA77A2EAB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64148E1-339C-D8ED-94A8-34C67D4FA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411" y="2136379"/>
            <a:ext cx="4657285" cy="417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425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9E6DF-3259-A2F4-354B-6214BEC64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Stub</a:t>
            </a:r>
            <a:r>
              <a:rPr lang="pt-PT" dirty="0"/>
              <a:t> em Curto-Circuito</a:t>
            </a:r>
          </a:p>
        </p:txBody>
      </p:sp>
      <p:pic>
        <p:nvPicPr>
          <p:cNvPr id="5" name="Marcador de Posição de Conteúdo 4" descr="Uma imagem com texto, captura de ecrã, diagrama, Tipo de letra&#10;&#10;Os conteúdos gerados por IA poderão estar incorretos.">
            <a:extLst>
              <a:ext uri="{FF2B5EF4-FFF2-40B4-BE49-F238E27FC236}">
                <a16:creationId xmlns:a16="http://schemas.microsoft.com/office/drawing/2014/main" id="{B846EC7F-6C31-C063-EA4A-31521AEE73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34" y="2114293"/>
            <a:ext cx="4314033" cy="4065545"/>
          </a:xfrm>
        </p:spPr>
      </p:pic>
      <p:pic>
        <p:nvPicPr>
          <p:cNvPr id="7" name="Imagem 6" descr="Uma imagem com texto, diagrama, file, Gráfico&#10;&#10;Os conteúdos gerados por IA poderão estar incorretos.">
            <a:extLst>
              <a:ext uri="{FF2B5EF4-FFF2-40B4-BE49-F238E27FC236}">
                <a16:creationId xmlns:a16="http://schemas.microsoft.com/office/drawing/2014/main" id="{7F6ECC88-FA32-267E-79BC-3FC0A55D82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6967" y="2114293"/>
            <a:ext cx="7054222" cy="269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435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04E37-AF0C-991B-089D-E8DF4DB0D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Capacidade C em paralelo na linha</a:t>
            </a:r>
          </a:p>
        </p:txBody>
      </p:sp>
      <p:pic>
        <p:nvPicPr>
          <p:cNvPr id="5" name="Marcador de Posição de Conteúdo 4" descr="Uma imagem com texto, diagrama, captura de ecrã, Tipo de letra&#10;&#10;Os conteúdos gerados por IA poderão estar incorretos.">
            <a:extLst>
              <a:ext uri="{FF2B5EF4-FFF2-40B4-BE49-F238E27FC236}">
                <a16:creationId xmlns:a16="http://schemas.microsoft.com/office/drawing/2014/main" id="{5C8FF2BB-57FC-B308-3F42-AB72A08BE7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67" y="2094629"/>
            <a:ext cx="3754426" cy="4114343"/>
          </a:xfrm>
        </p:spPr>
      </p:pic>
      <p:pic>
        <p:nvPicPr>
          <p:cNvPr id="7" name="Imagem 6" descr="Uma imagem com texto, diagrama, file, círculo&#10;&#10;Os conteúdos gerados por IA poderão estar incorretos.">
            <a:extLst>
              <a:ext uri="{FF2B5EF4-FFF2-40B4-BE49-F238E27FC236}">
                <a16:creationId xmlns:a16="http://schemas.microsoft.com/office/drawing/2014/main" id="{3D76A21B-E9A1-1ADD-A713-D02DEC08D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193" y="2094629"/>
            <a:ext cx="7358849" cy="295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138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73B2593-7322-A936-E116-9732CAA45C0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pt-PT" dirty="0"/>
                  <a:t>Transformador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pt-PT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dirty="0"/>
                  <a:t> num ponto de mínimo de tensão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73B2593-7322-A936-E116-9732CAA45C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799" t="-6701" b="-24742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Marcador de Posição de Conteúdo 4" descr="Uma imagem com texto, captura de ecrã, diagrama, Tipo de letra&#10;&#10;Os conteúdos gerados por IA poderão estar incorretos.">
            <a:extLst>
              <a:ext uri="{FF2B5EF4-FFF2-40B4-BE49-F238E27FC236}">
                <a16:creationId xmlns:a16="http://schemas.microsoft.com/office/drawing/2014/main" id="{A4F7478E-66F6-12BD-C04D-ADD9C08724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4" y="2114294"/>
            <a:ext cx="4604292" cy="3922712"/>
          </a:xfrm>
        </p:spPr>
      </p:pic>
      <p:pic>
        <p:nvPicPr>
          <p:cNvPr id="7" name="Imagem 6" descr="Uma imagem com texto, diagrama, file, círculo&#10;&#10;Os conteúdos gerados por IA poderão estar incorretos.">
            <a:extLst>
              <a:ext uri="{FF2B5EF4-FFF2-40B4-BE49-F238E27FC236}">
                <a16:creationId xmlns:a16="http://schemas.microsoft.com/office/drawing/2014/main" id="{0128BF37-9BCE-5447-A03C-14D62B7DD4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96" y="2114294"/>
            <a:ext cx="6560124" cy="232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08512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274</Words>
  <Application>Microsoft Office PowerPoint</Application>
  <PresentationFormat>Ecrã Panorâmico</PresentationFormat>
  <Paragraphs>35</Paragraphs>
  <Slides>12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Cambria Math</vt:lpstr>
      <vt:lpstr>Neue Haas Grotesk Text Pro</vt:lpstr>
      <vt:lpstr>AccentBoxVTI</vt:lpstr>
      <vt:lpstr>Trabalho de Adaptação de Impedâncias </vt:lpstr>
      <vt:lpstr>Dados do Trabalho</vt:lpstr>
      <vt:lpstr>Stub em Curto-Circuito.</vt:lpstr>
      <vt:lpstr>Capacidade C em paralelo na linha.</vt:lpstr>
      <vt:lpstr>Transformador λ/4   num ponto de mínimo de tensão.</vt:lpstr>
      <vt:lpstr>Dados de Entrada - MATLAB</vt:lpstr>
      <vt:lpstr>Stub em Curto-Circuito - MATLAB</vt:lpstr>
      <vt:lpstr>Capacidade C em paralelo na linha - MATLAB</vt:lpstr>
      <vt:lpstr>Transformador λ/4   num ponto de mínimo de tensão - MATLAB</vt:lpstr>
      <vt:lpstr>Stub em Curto-Circuito</vt:lpstr>
      <vt:lpstr>Capacidade C em paralelo na linha</vt:lpstr>
      <vt:lpstr>Transformador λ/4   num ponto de mínimo de tensão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Edson Come</dc:creator>
  <cp:lastModifiedBy>Edson Come</cp:lastModifiedBy>
  <cp:revision>2</cp:revision>
  <dcterms:created xsi:type="dcterms:W3CDTF">2025-03-29T16:45:19Z</dcterms:created>
  <dcterms:modified xsi:type="dcterms:W3CDTF">2025-03-30T16:55:33Z</dcterms:modified>
</cp:coreProperties>
</file>